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AEEE97-0364-4400-B8E7-A6E94E61A4F8}" v="11" dt="2026-02-10T17:55:48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 Jambanagoud" userId="56b1fee88b1d06a0" providerId="LiveId" clId="{EE43E089-EFD3-4A45-9C28-58B462503C12}"/>
    <pc:docChg chg="custSel delSld modSld">
      <pc:chgData name="Neha Jambanagoud" userId="56b1fee88b1d06a0" providerId="LiveId" clId="{EE43E089-EFD3-4A45-9C28-58B462503C12}" dt="2026-02-10T17:58:57.844" v="149" actId="1076"/>
      <pc:docMkLst>
        <pc:docMk/>
      </pc:docMkLst>
      <pc:sldChg chg="modSp mod">
        <pc:chgData name="Neha Jambanagoud" userId="56b1fee88b1d06a0" providerId="LiveId" clId="{EE43E089-EFD3-4A45-9C28-58B462503C12}" dt="2026-02-10T17:58:57.844" v="149" actId="1076"/>
        <pc:sldMkLst>
          <pc:docMk/>
          <pc:sldMk cId="0" sldId="256"/>
        </pc:sldMkLst>
        <pc:spChg chg="mod">
          <ac:chgData name="Neha Jambanagoud" userId="56b1fee88b1d06a0" providerId="LiveId" clId="{EE43E089-EFD3-4A45-9C28-58B462503C12}" dt="2026-02-10T17:58:55.415" v="148" actId="1076"/>
          <ac:spMkLst>
            <pc:docMk/>
            <pc:sldMk cId="0" sldId="256"/>
            <ac:spMk id="58" creationId="{00000000-0000-0000-0000-000000000000}"/>
          </ac:spMkLst>
        </pc:spChg>
        <pc:spChg chg="mod">
          <ac:chgData name="Neha Jambanagoud" userId="56b1fee88b1d06a0" providerId="LiveId" clId="{EE43E089-EFD3-4A45-9C28-58B462503C12}" dt="2026-02-10T17:58:49.447" v="147" actId="1076"/>
          <ac:spMkLst>
            <pc:docMk/>
            <pc:sldMk cId="0" sldId="256"/>
            <ac:spMk id="59" creationId="{00000000-0000-0000-0000-000000000000}"/>
          </ac:spMkLst>
        </pc:spChg>
        <pc:picChg chg="mod">
          <ac:chgData name="Neha Jambanagoud" userId="56b1fee88b1d06a0" providerId="LiveId" clId="{EE43E089-EFD3-4A45-9C28-58B462503C12}" dt="2026-02-06T08:47:52.495" v="65" actId="1076"/>
          <ac:picMkLst>
            <pc:docMk/>
            <pc:sldMk cId="0" sldId="256"/>
            <ac:picMk id="60" creationId="{00000000-0000-0000-0000-000000000000}"/>
          </ac:picMkLst>
        </pc:picChg>
        <pc:picChg chg="mod">
          <ac:chgData name="Neha Jambanagoud" userId="56b1fee88b1d06a0" providerId="LiveId" clId="{EE43E089-EFD3-4A45-9C28-58B462503C12}" dt="2026-02-10T17:58:57.844" v="149" actId="1076"/>
          <ac:picMkLst>
            <pc:docMk/>
            <pc:sldMk cId="0" sldId="256"/>
            <ac:picMk id="61" creationId="{00000000-0000-0000-0000-000000000000}"/>
          </ac:picMkLst>
        </pc:picChg>
      </pc:sldChg>
      <pc:sldChg chg="delSp modSp mod">
        <pc:chgData name="Neha Jambanagoud" userId="56b1fee88b1d06a0" providerId="LiveId" clId="{EE43E089-EFD3-4A45-9C28-58B462503C12}" dt="2026-02-10T17:57:37.931" v="136" actId="403"/>
        <pc:sldMkLst>
          <pc:docMk/>
          <pc:sldMk cId="0" sldId="257"/>
        </pc:sldMkLst>
        <pc:spChg chg="del mod">
          <ac:chgData name="Neha Jambanagoud" userId="56b1fee88b1d06a0" providerId="LiveId" clId="{EE43E089-EFD3-4A45-9C28-58B462503C12}" dt="2026-02-10T17:30:09.494" v="84" actId="478"/>
          <ac:spMkLst>
            <pc:docMk/>
            <pc:sldMk cId="0" sldId="257"/>
            <ac:spMk id="2" creationId="{924DB39B-332C-8591-5EF9-520D9E900404}"/>
          </ac:spMkLst>
        </pc:spChg>
        <pc:spChg chg="mod">
          <ac:chgData name="Neha Jambanagoud" userId="56b1fee88b1d06a0" providerId="LiveId" clId="{EE43E089-EFD3-4A45-9C28-58B462503C12}" dt="2026-02-10T17:31:01.979" v="85" actId="1076"/>
          <ac:spMkLst>
            <pc:docMk/>
            <pc:sldMk cId="0" sldId="257"/>
            <ac:spMk id="63" creationId="{00000000-0000-0000-0000-000000000000}"/>
          </ac:spMkLst>
        </pc:spChg>
        <pc:spChg chg="mod">
          <ac:chgData name="Neha Jambanagoud" userId="56b1fee88b1d06a0" providerId="LiveId" clId="{EE43E089-EFD3-4A45-9C28-58B462503C12}" dt="2026-02-10T17:57:37.931" v="136" actId="403"/>
          <ac:spMkLst>
            <pc:docMk/>
            <pc:sldMk cId="0" sldId="257"/>
            <ac:spMk id="64" creationId="{00000000-0000-0000-0000-000000000000}"/>
          </ac:spMkLst>
        </pc:spChg>
        <pc:spChg chg="mod">
          <ac:chgData name="Neha Jambanagoud" userId="56b1fee88b1d06a0" providerId="LiveId" clId="{EE43E089-EFD3-4A45-9C28-58B462503C12}" dt="2026-02-10T17:06:02.955" v="75" actId="14100"/>
          <ac:spMkLst>
            <pc:docMk/>
            <pc:sldMk cId="0" sldId="257"/>
            <ac:spMk id="66" creationId="{00000000-0000-0000-0000-000000000000}"/>
          </ac:spMkLst>
        </pc:spChg>
      </pc:sldChg>
      <pc:sldChg chg="delSp modSp mod">
        <pc:chgData name="Neha Jambanagoud" userId="56b1fee88b1d06a0" providerId="LiveId" clId="{EE43E089-EFD3-4A45-9C28-58B462503C12}" dt="2026-02-06T08:27:38.705" v="56" actId="1076"/>
        <pc:sldMkLst>
          <pc:docMk/>
          <pc:sldMk cId="0" sldId="258"/>
        </pc:sldMkLst>
        <pc:spChg chg="mod">
          <ac:chgData name="Neha Jambanagoud" userId="56b1fee88b1d06a0" providerId="LiveId" clId="{EE43E089-EFD3-4A45-9C28-58B462503C12}" dt="2026-02-06T08:27:28.081" v="54" actId="20577"/>
          <ac:spMkLst>
            <pc:docMk/>
            <pc:sldMk cId="0" sldId="258"/>
            <ac:spMk id="71" creationId="{00000000-0000-0000-0000-000000000000}"/>
          </ac:spMkLst>
        </pc:spChg>
        <pc:picChg chg="mod">
          <ac:chgData name="Neha Jambanagoud" userId="56b1fee88b1d06a0" providerId="LiveId" clId="{EE43E089-EFD3-4A45-9C28-58B462503C12}" dt="2026-02-06T08:27:38.705" v="56" actId="1076"/>
          <ac:picMkLst>
            <pc:docMk/>
            <pc:sldMk cId="0" sldId="258"/>
            <ac:picMk id="6" creationId="{855090EF-4830-EB6A-2465-DC193F1076F8}"/>
          </ac:picMkLst>
        </pc:picChg>
      </pc:sldChg>
      <pc:sldChg chg="delSp modSp mod">
        <pc:chgData name="Neha Jambanagoud" userId="56b1fee88b1d06a0" providerId="LiveId" clId="{EE43E089-EFD3-4A45-9C28-58B462503C12}" dt="2026-02-10T17:50:47.262" v="114" actId="12"/>
        <pc:sldMkLst>
          <pc:docMk/>
          <pc:sldMk cId="0" sldId="259"/>
        </pc:sldMkLst>
        <pc:spChg chg="del mod">
          <ac:chgData name="Neha Jambanagoud" userId="56b1fee88b1d06a0" providerId="LiveId" clId="{EE43E089-EFD3-4A45-9C28-58B462503C12}" dt="2026-02-10T17:50:05.578" v="101" actId="478"/>
          <ac:spMkLst>
            <pc:docMk/>
            <pc:sldMk cId="0" sldId="259"/>
            <ac:spMk id="2" creationId="{D3106AEE-97C5-E94A-F7FF-72D8E7D5550B}"/>
          </ac:spMkLst>
        </pc:spChg>
        <pc:spChg chg="mod">
          <ac:chgData name="Neha Jambanagoud" userId="56b1fee88b1d06a0" providerId="LiveId" clId="{EE43E089-EFD3-4A45-9C28-58B462503C12}" dt="2026-02-10T17:50:47.262" v="114" actId="12"/>
          <ac:spMkLst>
            <pc:docMk/>
            <pc:sldMk cId="0" sldId="259"/>
            <ac:spMk id="78" creationId="{00000000-0000-0000-0000-000000000000}"/>
          </ac:spMkLst>
        </pc:spChg>
        <pc:picChg chg="mod">
          <ac:chgData name="Neha Jambanagoud" userId="56b1fee88b1d06a0" providerId="LiveId" clId="{EE43E089-EFD3-4A45-9C28-58B462503C12}" dt="2026-02-10T17:50:41.415" v="112" actId="1076"/>
          <ac:picMkLst>
            <pc:docMk/>
            <pc:sldMk cId="0" sldId="259"/>
            <ac:picMk id="3" creationId="{41260C6A-CC14-58F1-BD06-71D7096CF267}"/>
          </ac:picMkLst>
        </pc:picChg>
      </pc:sldChg>
      <pc:sldChg chg="delSp modSp mod">
        <pc:chgData name="Neha Jambanagoud" userId="56b1fee88b1d06a0" providerId="LiveId" clId="{EE43E089-EFD3-4A45-9C28-58B462503C12}" dt="2026-02-10T17:56:27.880" v="125" actId="20577"/>
        <pc:sldMkLst>
          <pc:docMk/>
          <pc:sldMk cId="0" sldId="260"/>
        </pc:sldMkLst>
        <pc:spChg chg="del mod">
          <ac:chgData name="Neha Jambanagoud" userId="56b1fee88b1d06a0" providerId="LiveId" clId="{EE43E089-EFD3-4A45-9C28-58B462503C12}" dt="2026-02-10T17:55:30.322" v="116" actId="478"/>
          <ac:spMkLst>
            <pc:docMk/>
            <pc:sldMk cId="0" sldId="260"/>
            <ac:spMk id="2" creationId="{7E763FBD-93E1-B372-4C50-B923300BFF92}"/>
          </ac:spMkLst>
        </pc:spChg>
        <pc:spChg chg="mod">
          <ac:chgData name="Neha Jambanagoud" userId="56b1fee88b1d06a0" providerId="LiveId" clId="{EE43E089-EFD3-4A45-9C28-58B462503C12}" dt="2026-02-10T17:56:27.880" v="125" actId="20577"/>
          <ac:spMkLst>
            <pc:docMk/>
            <pc:sldMk cId="0" sldId="260"/>
            <ac:spMk id="85" creationId="{00000000-0000-0000-0000-000000000000}"/>
          </ac:spMkLst>
        </pc:spChg>
      </pc:sldChg>
      <pc:sldChg chg="modSp mod">
        <pc:chgData name="Neha Jambanagoud" userId="56b1fee88b1d06a0" providerId="LiveId" clId="{EE43E089-EFD3-4A45-9C28-58B462503C12}" dt="2026-02-10T17:56:42.842" v="127" actId="404"/>
        <pc:sldMkLst>
          <pc:docMk/>
          <pc:sldMk cId="0" sldId="261"/>
        </pc:sldMkLst>
        <pc:spChg chg="mod">
          <ac:chgData name="Neha Jambanagoud" userId="56b1fee88b1d06a0" providerId="LiveId" clId="{EE43E089-EFD3-4A45-9C28-58B462503C12}" dt="2026-02-10T17:56:42.842" v="127" actId="404"/>
          <ac:spMkLst>
            <pc:docMk/>
            <pc:sldMk cId="0" sldId="261"/>
            <ac:spMk id="9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BB596B0-BA26-4D81-B002-BB0589CA1A47}" type="slidenum"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6C170FC-9F21-43DD-A814-2A37216E1A43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B6A7EF-AEA4-444B-8853-25F8CA8C2E25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65E3A4B-81C9-47EF-8083-AAAA5FE497FC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4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ED2B4AB-D6C5-4F9C-AAA9-ACD7D8D2980C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5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1C4B774-49A7-4820-8658-4853F4CDBC13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6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E43D709-9438-4E06-9555-263A089F8E2E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330A4CCE-CA8D-4F95-B031-78B720E2EAF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176F86A-54A0-4A0A-9141-F1129B62A1C1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DA26866-9E38-4D79-92AB-2D6358588418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3880" y="0"/>
            <a:ext cx="914328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56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6680" y="851400"/>
            <a:ext cx="4637880" cy="5154120"/>
          </a:xfrm>
          <a:custGeom>
            <a:avLst/>
            <a:gdLst>
              <a:gd name="textAreaLeft" fmla="*/ 0 w 4637880"/>
              <a:gd name="textAreaRight" fmla="*/ 4638600 w 4637880"/>
              <a:gd name="textAreaTop" fmla="*/ 0 h 5154120"/>
              <a:gd name="textAreaBottom" fmla="*/ 5154840 h 5154120"/>
            </a:gdLst>
            <a:ahLst/>
            <a:cxnLst/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1245600" y="648720"/>
            <a:ext cx="8533800" cy="1751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chemeClr val="dk1"/>
                </a:solidFill>
                <a:latin typeface="Times New Roman"/>
                <a:ea typeface="ＭＳ Ｐゴシック"/>
              </a:rPr>
              <a:t>TITLE PAGE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331200" y="-369929"/>
            <a:ext cx="10362600" cy="207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2"/>
                </a:solidFill>
                <a:latin typeface="Garamond"/>
                <a:ea typeface="ＭＳ Ｐゴシック"/>
              </a:rPr>
              <a:t>“SAMVED” HACKATHON 2026</a:t>
            </a:r>
            <a:endParaRPr lang="en-IN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9"/>
          <p:cNvSpPr/>
          <p:nvPr/>
        </p:nvSpPr>
        <p:spPr>
          <a:xfrm>
            <a:off x="331200" y="1218299"/>
            <a:ext cx="9143279" cy="5423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Problem Statement ID – 04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Problem Statement Title- </a:t>
            </a:r>
            <a:r>
              <a:rPr lang="en-US" sz="2400" dirty="0"/>
              <a:t>Smart Safety and Assistance System for Sanitation Workers of Solapur Municipal Corporation</a:t>
            </a:r>
            <a:endParaRPr lang="en-IN" sz="32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Theme-</a:t>
            </a:r>
            <a:r>
              <a:rPr lang="en-US" sz="2400" b="1" spc="-1" dirty="0">
                <a:solidFill>
                  <a:schemeClr val="dk1"/>
                </a:solidFill>
                <a:latin typeface="Arial"/>
                <a:ea typeface="ＭＳ Ｐゴシック"/>
              </a:rPr>
              <a:t> IoT + AI Smart Wearable Safety System (Hardware + Software)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Team ID- </a:t>
            </a:r>
            <a:r>
              <a:rPr lang="en-IN" sz="2400" b="1" dirty="0"/>
              <a:t>30336EBB</a:t>
            </a:r>
            <a:endParaRPr lang="en-IN" sz="2400" b="1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Team Name- Elevate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Picture 59"/>
          <p:cNvPicPr/>
          <p:nvPr/>
        </p:nvPicPr>
        <p:blipFill>
          <a:blip r:embed="rId2"/>
          <a:stretch/>
        </p:blipFill>
        <p:spPr>
          <a:xfrm>
            <a:off x="8569472" y="1157999"/>
            <a:ext cx="3420000" cy="1326960"/>
          </a:xfrm>
          <a:prstGeom prst="rect">
            <a:avLst/>
          </a:prstGeom>
          <a:ln w="0">
            <a:noFill/>
          </a:ln>
        </p:spPr>
      </p:pic>
      <p:pic>
        <p:nvPicPr>
          <p:cNvPr id="61" name="Picture 60"/>
          <p:cNvPicPr/>
          <p:nvPr/>
        </p:nvPicPr>
        <p:blipFill>
          <a:blip r:embed="rId3"/>
          <a:stretch/>
        </p:blipFill>
        <p:spPr>
          <a:xfrm>
            <a:off x="8569472" y="4628680"/>
            <a:ext cx="3099960" cy="1260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8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23886" y="23321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br>
              <a:rPr sz="2800" dirty="0">
                <a:latin typeface="Bernard MT Condensed" panose="02050806060905020404" pitchFamily="18" charset="0"/>
              </a:rPr>
            </a:br>
            <a:r>
              <a:rPr lang="en-US" sz="2800" dirty="0" err="1">
                <a:latin typeface="Bernard MT Condensed" panose="02050806060905020404" pitchFamily="18" charset="0"/>
              </a:rPr>
              <a:t>SmartWear</a:t>
            </a:r>
            <a:r>
              <a:rPr lang="en-US" sz="2800" dirty="0">
                <a:latin typeface="Bernard MT Condensed" panose="02050806060905020404" pitchFamily="18" charset="0"/>
              </a:rPr>
              <a:t>-AI: Intelligent Safety &amp; Rescue System for Sanitation Workers</a:t>
            </a:r>
            <a:endParaRPr lang="en-IN" sz="2800" b="0" strike="noStrike" spc="-1" dirty="0">
              <a:solidFill>
                <a:srgbClr val="000000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64" name="TextBox 8"/>
          <p:cNvSpPr/>
          <p:nvPr/>
        </p:nvSpPr>
        <p:spPr>
          <a:xfrm>
            <a:off x="123886" y="1369488"/>
            <a:ext cx="12167442" cy="4399751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b="1" dirty="0"/>
              <a:t>PROPOSED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AI-enabled smart wearable wristband</a:t>
            </a:r>
            <a:r>
              <a:rPr lang="en-US" sz="1600" dirty="0"/>
              <a:t> with gas, temperature, heart-rate sensors &amp; GPS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Mobile application with AI decision engine</a:t>
            </a:r>
            <a:r>
              <a:rPr lang="en-US" sz="1600" dirty="0"/>
              <a:t> for real-time analysis and decision-making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Continuous safety and health monitoring</a:t>
            </a:r>
            <a:r>
              <a:rPr lang="en-US" sz="1600" dirty="0"/>
              <a:t> with autonomous emergency response</a:t>
            </a:r>
          </a:p>
          <a:p>
            <a:endParaRPr lang="en-US" sz="1600" dirty="0"/>
          </a:p>
          <a:p>
            <a:r>
              <a:rPr lang="en-US" b="1" dirty="0"/>
              <a:t>How It Addresses the Problem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Real-time detection</a:t>
            </a:r>
            <a:r>
              <a:rPr lang="en-US" sz="1600" dirty="0"/>
              <a:t> of toxic gases, unsafe temperature, and abnormal heart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Live GPS tracking</a:t>
            </a:r>
            <a:r>
              <a:rPr lang="en-US" sz="1600" dirty="0"/>
              <a:t> with buzzer alerts during unsafe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Automatic emergency escalation</a:t>
            </a:r>
            <a:r>
              <a:rPr lang="en-US" sz="1600" dirty="0"/>
              <a:t> if no response within 5 minutes, including alerts to authorities and ambulance with exact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Eliminates dependency on manual reporting</a:t>
            </a:r>
          </a:p>
          <a:p>
            <a:endParaRPr lang="en-US" sz="1600" dirty="0"/>
          </a:p>
          <a:p>
            <a:r>
              <a:rPr lang="en-US" b="1" dirty="0"/>
              <a:t>Innovation &amp; Uniqueness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Zero-trust safety model</a:t>
            </a:r>
            <a:r>
              <a:rPr lang="en-US" sz="1600" dirty="0"/>
              <a:t>: no response triggers automatic escalation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Autonomous emergency handling</a:t>
            </a:r>
            <a:r>
              <a:rPr lang="en-US" sz="1600" dirty="0"/>
              <a:t> without human intervention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AI-based risk analysis</a:t>
            </a:r>
            <a:r>
              <a:rPr lang="en-US" sz="1600" dirty="0"/>
              <a:t> to predict unsafe conditions and support pre-deployment area safety assessment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Worker-centric design</a:t>
            </a:r>
            <a:r>
              <a:rPr lang="en-US" sz="1600" dirty="0"/>
              <a:t> focused on safety, dignity, and prevention</a:t>
            </a:r>
          </a:p>
          <a:p>
            <a:pPr defTabSz="457200">
              <a:lnSpc>
                <a:spcPct val="100000"/>
              </a:lnSpc>
              <a:buClr>
                <a:srgbClr val="1F497D"/>
              </a:buClr>
            </a:pPr>
            <a:endParaRPr lang="en-IN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4B43EC6-6A2F-4FEF-B416-2BF9BFF0B0D0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rPr>
              <a:t>2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Oval 9"/>
          <p:cNvSpPr/>
          <p:nvPr/>
        </p:nvSpPr>
        <p:spPr>
          <a:xfrm>
            <a:off x="123886" y="65270"/>
            <a:ext cx="1282127" cy="6973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pc="-1" dirty="0">
                <a:solidFill>
                  <a:schemeClr val="dk1"/>
                </a:solidFill>
                <a:latin typeface="Calibri"/>
                <a:ea typeface="ＭＳ Ｐゴシック"/>
              </a:rPr>
              <a:t>Elevate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Picture 66"/>
          <p:cNvPicPr/>
          <p:nvPr/>
        </p:nvPicPr>
        <p:blipFill>
          <a:blip r:embed="rId3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67"/>
          <p:cNvPicPr/>
          <p:nvPr/>
        </p:nvPicPr>
        <p:blipFill>
          <a:blip r:embed="rId4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-975960" y="-11448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>
                <a:solidFill>
                  <a:schemeClr val="dk1"/>
                </a:solidFill>
                <a:latin typeface="Times New Roman"/>
                <a:ea typeface="ＭＳ Ｐゴシック"/>
              </a:rPr>
              <a:t>TECHNICAL APPROACH</a:t>
            </a:r>
            <a:endParaRPr lang="en-IN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8"/>
          <p:cNvSpPr/>
          <p:nvPr/>
        </p:nvSpPr>
        <p:spPr>
          <a:xfrm>
            <a:off x="611640" y="1142281"/>
            <a:ext cx="8699508" cy="513841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IN" b="1" dirty="0"/>
              <a:t>Technologies Used</a:t>
            </a:r>
          </a:p>
          <a:p>
            <a:endParaRPr lang="en-IN" b="1" dirty="0"/>
          </a:p>
          <a:p>
            <a:r>
              <a:rPr lang="en-IN" b="1" dirty="0"/>
              <a:t>Hardware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ESP32 Microcontroller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Gas Sensor (toxic gas detection)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Temperature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Heart Rate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GPS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Emergency Push Button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Buzzer / Alert Unit</a:t>
            </a:r>
          </a:p>
          <a:p>
            <a:endParaRPr lang="en-IN" dirty="0"/>
          </a:p>
          <a:p>
            <a:r>
              <a:rPr lang="en-IN" b="1" dirty="0"/>
              <a:t>Software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Mobile Application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Programming: Embedded C / Arduino,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Python ,AI / ML for risk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Cloud / Database for real-time data storage</a:t>
            </a:r>
          </a:p>
          <a:p>
            <a:endParaRPr lang="en-IN" sz="2000" dirty="0"/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897DFA0-2B89-4689-95EA-35970505E89A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rPr>
              <a:t>3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Oval 10"/>
          <p:cNvSpPr/>
          <p:nvPr/>
        </p:nvSpPr>
        <p:spPr>
          <a:xfrm>
            <a:off x="103618" y="5328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pc="-1" dirty="0">
                <a:solidFill>
                  <a:schemeClr val="dk1"/>
                </a:solidFill>
                <a:latin typeface="Calibri"/>
                <a:ea typeface="ＭＳ Ｐゴシック"/>
              </a:rPr>
              <a:t>Elevate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Picture 73"/>
          <p:cNvPicPr/>
          <p:nvPr/>
        </p:nvPicPr>
        <p:blipFill>
          <a:blip r:embed="rId3"/>
          <a:stretch/>
        </p:blipFill>
        <p:spPr>
          <a:xfrm>
            <a:off x="10080000" y="14400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75" name="Picture 74"/>
          <p:cNvPicPr/>
          <p:nvPr/>
        </p:nvPicPr>
        <p:blipFill>
          <a:blip r:embed="rId4"/>
          <a:stretch/>
        </p:blipFill>
        <p:spPr>
          <a:xfrm>
            <a:off x="8280000" y="108000"/>
            <a:ext cx="1716120" cy="697320"/>
          </a:xfrm>
          <a:prstGeom prst="rect">
            <a:avLst/>
          </a:prstGeom>
          <a:ln w="0"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5090EF-4830-EB6A-2465-DC193F107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051" y="1142281"/>
            <a:ext cx="7039897" cy="41698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000" y="-62280"/>
            <a:ext cx="882000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dk1"/>
                </a:solidFill>
                <a:latin typeface="Times New Roman"/>
                <a:ea typeface="ＭＳ Ｐゴシック"/>
              </a:rPr>
              <a:t>FEASIBILITY AND VIABILITY</a:t>
            </a: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610440" y="976320"/>
            <a:ext cx="9384480" cy="5046082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IN" sz="2000" b="1" dirty="0"/>
              <a:t>Feasibility Analysis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Low-cost, proven technologies</a:t>
            </a:r>
            <a:r>
              <a:rPr lang="en-IN" dirty="0"/>
              <a:t>: ESP32, Android application, cloud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No dependency on experimental hardware</a:t>
            </a:r>
            <a:r>
              <a:rPr lang="en-IN" dirty="0"/>
              <a:t>, ensuring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Scalable deployment</a:t>
            </a:r>
            <a:r>
              <a:rPr lang="en-IN" dirty="0"/>
              <a:t> across multiple workers and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Suitable for real sanitation environments</a:t>
            </a:r>
          </a:p>
          <a:p>
            <a:endParaRPr lang="en-IN" dirty="0"/>
          </a:p>
          <a:p>
            <a:r>
              <a:rPr lang="en-IN" sz="2000" b="1" dirty="0"/>
              <a:t>Potential Challenges &amp; Risks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Sensor malfunction or noise</a:t>
            </a:r>
            <a:r>
              <a:rPr lang="en-IN" dirty="0"/>
              <a:t> in harsh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Network connectivity loss</a:t>
            </a:r>
            <a:r>
              <a:rPr lang="en-IN" dirty="0"/>
              <a:t> in underground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Worker adoption concerns</a:t>
            </a:r>
            <a:r>
              <a:rPr lang="en-IN" dirty="0"/>
              <a:t> and </a:t>
            </a:r>
            <a:r>
              <a:rPr lang="en-IN" b="1" dirty="0"/>
              <a:t>data privacy risks</a:t>
            </a:r>
          </a:p>
          <a:p>
            <a:endParaRPr lang="en-IN" dirty="0"/>
          </a:p>
          <a:p>
            <a:r>
              <a:rPr lang="en-IN" sz="2000" b="1" dirty="0"/>
              <a:t>Strategies to Overcome Challenges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Multi-sensor validation and calibration</a:t>
            </a:r>
            <a:r>
              <a:rPr lang="en-IN" dirty="0"/>
              <a:t> to reduce false alarms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Local alert mechanisms</a:t>
            </a:r>
            <a:r>
              <a:rPr lang="en-IN" dirty="0"/>
              <a:t> (buzzer/vibration) for offline safety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Offline data buffering with auto-sync</a:t>
            </a:r>
            <a:r>
              <a:rPr lang="en-IN" dirty="0"/>
              <a:t> when connectivity is restored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Compact wearable design</a:t>
            </a:r>
            <a:r>
              <a:rPr lang="en-IN" dirty="0"/>
              <a:t> with </a:t>
            </a:r>
            <a:r>
              <a:rPr lang="en-IN" b="1" dirty="0"/>
              <a:t>encrypted data transmission</a:t>
            </a:r>
            <a:endParaRPr lang="en-IN" dirty="0"/>
          </a:p>
          <a:p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C2B4984-A851-437F-9FF6-020B4ADC801A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4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Oval 11"/>
          <p:cNvSpPr/>
          <p:nvPr/>
        </p:nvSpPr>
        <p:spPr>
          <a:xfrm>
            <a:off x="263520" y="5364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pc="-1" dirty="0">
                <a:solidFill>
                  <a:schemeClr val="dk1"/>
                </a:solidFill>
                <a:latin typeface="Calibri"/>
                <a:ea typeface="ＭＳ Ｐゴシック"/>
              </a:rPr>
              <a:t>Elevate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Picture 80"/>
          <p:cNvPicPr/>
          <p:nvPr/>
        </p:nvPicPr>
        <p:blipFill>
          <a:blip r:embed="rId3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81"/>
          <p:cNvPicPr/>
          <p:nvPr/>
        </p:nvPicPr>
        <p:blipFill>
          <a:blip r:embed="rId4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260C6A-CC14-58F1-BD06-71D7096CF2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519" y="1764000"/>
            <a:ext cx="4419801" cy="25301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imes New Roman"/>
                <a:ea typeface="ＭＳ Ｐゴシック"/>
              </a:rPr>
              <a:t>IMPACT AND BENEFITS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955260" y="1296422"/>
            <a:ext cx="9384480" cy="4399751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2000" b="1" dirty="0"/>
              <a:t>Impact on Target Audience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Reduced worker fatalities</a:t>
            </a:r>
            <a:r>
              <a:rPr lang="en-US" sz="2000" dirty="0"/>
              <a:t> through real-time health and safety monitoring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Faster emergency response and rescue</a:t>
            </a:r>
            <a:r>
              <a:rPr lang="en-US" sz="2000" dirty="0"/>
              <a:t>, improving survival outcomes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Improved confidence, morale, and safety awareness</a:t>
            </a:r>
            <a:r>
              <a:rPr lang="en-US" sz="2000" dirty="0"/>
              <a:t> among workers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Enhanced supervision and decision-making</a:t>
            </a:r>
            <a:r>
              <a:rPr lang="en-US" sz="2000" dirty="0"/>
              <a:t> for authorities</a:t>
            </a:r>
          </a:p>
          <a:p>
            <a:endParaRPr lang="en-US" sz="2000" b="1" dirty="0"/>
          </a:p>
          <a:p>
            <a:r>
              <a:rPr lang="en-US" sz="2000" b="1" dirty="0"/>
              <a:t>Benefits of the Solution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Social</a:t>
            </a:r>
            <a:r>
              <a:rPr lang="en-US" sz="2000" dirty="0"/>
              <a:t>: Protects lives, promotes dignity, and supports humane sanitation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Economic</a:t>
            </a:r>
            <a:r>
              <a:rPr lang="en-US" sz="2000" dirty="0"/>
              <a:t>: Reduces medical and compensation costs, prevents accident-related delays, and offers high safety return at low cost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Environmental</a:t>
            </a:r>
            <a:r>
              <a:rPr lang="en-US" sz="2000" dirty="0"/>
              <a:t>: Enables safer waste management, prevents hazardous-zone accidents, and encourages sustainable sanitation practices</a:t>
            </a: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69EEA44-DB6D-4734-8EBF-8D8B568EA8BC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5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Oval 11"/>
          <p:cNvSpPr/>
          <p:nvPr/>
        </p:nvSpPr>
        <p:spPr>
          <a:xfrm>
            <a:off x="329760" y="38764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pc="-1" dirty="0">
                <a:solidFill>
                  <a:schemeClr val="dk1"/>
                </a:solidFill>
                <a:latin typeface="Calibri"/>
                <a:ea typeface="ＭＳ Ｐゴシック"/>
              </a:rPr>
              <a:t>Elevate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Picture 87"/>
          <p:cNvPicPr/>
          <p:nvPr/>
        </p:nvPicPr>
        <p:blipFill>
          <a:blip r:embed="rId3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89" name="Picture 88"/>
          <p:cNvPicPr/>
          <p:nvPr/>
        </p:nvPicPr>
        <p:blipFill>
          <a:blip r:embed="rId4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-540000" y="-18000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imes New Roman"/>
                <a:ea typeface="ＭＳ Ｐゴシック"/>
              </a:rPr>
              <a:t>RESEARCH  AND REFERENCES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422787" y="962281"/>
            <a:ext cx="10009293" cy="4645972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IN" sz="2400" b="1" dirty="0"/>
              <a:t>Technology &amp; Hardware References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ESP32 Technical Documentation – Espressif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MQ Gas Sensors Datasheets (MQ-2, MQ-7, MQ-135)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MAX30100 / MAX30102 Pulse Oximeter Sensor Docs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DHT11 / DHT22 Temperature &amp; Humidity Sensor Docs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Google Maps API Documentation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Firebase Realtime Database Documentation</a:t>
            </a:r>
          </a:p>
          <a:p>
            <a:br>
              <a:rPr lang="en-IN" sz="2400" dirty="0"/>
            </a:br>
            <a:r>
              <a:rPr lang="en-IN" sz="2400" b="1" dirty="0"/>
              <a:t>Web &amp; Learning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Arduino &amp; ESP32 Community Forums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GitHub Open-source IoT Safety Projects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WHO Occupational Safety Guidelines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Open Government Data (data.gov.in)</a:t>
            </a: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072BBF3-5608-46E8-875A-9E3D66DF137E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6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Oval 8"/>
          <p:cNvSpPr/>
          <p:nvPr/>
        </p:nvSpPr>
        <p:spPr>
          <a:xfrm>
            <a:off x="152780" y="5364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pc="-1" dirty="0">
                <a:solidFill>
                  <a:schemeClr val="dk1"/>
                </a:solidFill>
                <a:latin typeface="Calibri"/>
                <a:ea typeface="ＭＳ Ｐゴシック"/>
              </a:rPr>
              <a:t>Elevate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Picture 94"/>
          <p:cNvPicPr/>
          <p:nvPr/>
        </p:nvPicPr>
        <p:blipFill>
          <a:blip r:embed="rId3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95"/>
          <p:cNvPicPr/>
          <p:nvPr/>
        </p:nvPicPr>
        <p:blipFill>
          <a:blip r:embed="rId4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7738</TotalTime>
  <Words>522</Words>
  <Application>Microsoft Office PowerPoint</Application>
  <PresentationFormat>Widescreen</PresentationFormat>
  <Paragraphs>100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Bernard MT Condensed</vt:lpstr>
      <vt:lpstr>Calibri</vt:lpstr>
      <vt:lpstr>Garamond</vt:lpstr>
      <vt:lpstr>Symbol</vt:lpstr>
      <vt:lpstr>Times New Roman</vt:lpstr>
      <vt:lpstr>TradeGothic</vt:lpstr>
      <vt:lpstr>Wingdings</vt:lpstr>
      <vt:lpstr>Office Theme</vt:lpstr>
      <vt:lpstr>Office Theme</vt:lpstr>
      <vt:lpstr>“SAMVED” HACKATHON 2026</vt:lpstr>
      <vt:lpstr> SmartWear-AI: Intelligent Safety &amp; Rescue System for Sanitation Workers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dc:description/>
  <cp:lastModifiedBy>Neha Jambanagoud</cp:lastModifiedBy>
  <cp:revision>152</cp:revision>
  <dcterms:created xsi:type="dcterms:W3CDTF">2013-12-12T18:46:50Z</dcterms:created>
  <dcterms:modified xsi:type="dcterms:W3CDTF">2026-02-10T17:58:58Z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